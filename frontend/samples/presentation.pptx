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EF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874519"/>
            <a:ext cx="146304" cy="13716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4849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4200" b="1" i="0">
                <a:solidFill>
                  <a:srgbClr val="0A2540"/>
                </a:solidFill>
                <a:latin typeface="Inter"/>
              </a:rPr>
              <a:t>Анализ рынка доставки еды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29000"/>
            <a:ext cx="94484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425466"/>
                </a:solidFill>
                <a:latin typeface="Inter"/>
              </a:rPr>
              <a:t>Казань, 2026 год · исследование и рекомендации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486400"/>
            <a:ext cx="94484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25466"/>
                </a:solidFill>
                <a:latin typeface="Inter"/>
              </a:rPr>
              <a:t>ChatStudio · октябрь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5615" y="54864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00D4FF"/>
                </a:solidFill>
                <a:latin typeface="Inter"/>
              </a:rPr>
              <a:t>stripe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57400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A9A5FF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17520"/>
            <a:ext cx="101800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Inter"/>
              </a:rPr>
              <a:t>Ключевые цифры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101800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D3D1FF"/>
                </a:solidFill>
                <a:latin typeface="Inter"/>
              </a:rPr>
              <a:t>Что происходит на рынке прямо сейчас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566928"/>
          </a:xfrm>
          <a:prstGeom prst="rect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7548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D4FF"/>
                </a:solidFill>
                <a:latin typeface="Inter"/>
              </a:rPr>
              <a:t>СРЕЗ РЫНКА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A2540"/>
                </a:solidFill>
                <a:latin typeface="Inter"/>
              </a:rPr>
              <a:t>Главное за год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442133" cy="214884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12700">
            <a:solidFill>
              <a:srgbClr val="C6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2442133" cy="68580"/>
          </a:xfrm>
          <a:prstGeom prst="rect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203979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635BFF"/>
                </a:solidFill>
                <a:latin typeface="Inter"/>
              </a:rPr>
              <a:t>48,1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401568"/>
            <a:ext cx="203979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25466"/>
                </a:solidFill>
                <a:latin typeface="Inter"/>
              </a:rPr>
              <a:t>млрд ₽ объём рынка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693" y="2103120"/>
            <a:ext cx="2442133" cy="214884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12700">
            <a:solidFill>
              <a:srgbClr val="C6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93693" y="2103120"/>
            <a:ext cx="2442133" cy="685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4861" y="2487168"/>
            <a:ext cx="203979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635BFF"/>
                </a:solidFill>
                <a:latin typeface="Inter"/>
              </a:rPr>
              <a:t>+21%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861" y="3401568"/>
            <a:ext cx="203979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25466"/>
                </a:solidFill>
                <a:latin typeface="Inter"/>
              </a:rPr>
              <a:t>рост к прошлому году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5867" y="2103120"/>
            <a:ext cx="2442133" cy="214884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12700">
            <a:solidFill>
              <a:srgbClr val="C6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5867" y="2103120"/>
            <a:ext cx="2442133" cy="68580"/>
          </a:xfrm>
          <a:prstGeom prst="rect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7035" y="2487168"/>
            <a:ext cx="203979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635BFF"/>
                </a:solidFill>
                <a:latin typeface="Inter"/>
              </a:rPr>
              <a:t>2,4 млн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7035" y="3401568"/>
            <a:ext cx="203979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25466"/>
                </a:solidFill>
                <a:latin typeface="Inter"/>
              </a:rPr>
              <a:t>заказов в месяц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8041" y="2103120"/>
            <a:ext cx="2442133" cy="214884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12700">
            <a:solidFill>
              <a:srgbClr val="C6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18041" y="2103120"/>
            <a:ext cx="2442133" cy="685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9209" y="2487168"/>
            <a:ext cx="203979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635BFF"/>
                </a:solidFill>
                <a:latin typeface="Inter"/>
              </a:rPr>
              <a:t>38 мин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9209" y="3401568"/>
            <a:ext cx="203979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25466"/>
                </a:solidFill>
                <a:latin typeface="Inter"/>
              </a:rPr>
              <a:t>среднее время доставки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291072"/>
            <a:ext cx="10911535" cy="10972"/>
          </a:xfrm>
          <a:prstGeom prst="rect">
            <a:avLst/>
          </a:prstGeom>
          <a:solidFill>
            <a:srgbClr val="CAC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25466"/>
                </a:solidFill>
                <a:latin typeface="Inter"/>
              </a:rPr>
              <a:t>Анализ рынка доставки еды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3825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425466"/>
                </a:solidFill>
                <a:latin typeface="Inter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566928"/>
          </a:xfrm>
          <a:prstGeom prst="rect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7548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D4FF"/>
                </a:solidFill>
                <a:latin typeface="Inter"/>
              </a:rPr>
              <a:t>ДИНАМИКА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A2540"/>
                </a:solidFill>
                <a:latin typeface="Inter"/>
              </a:rPr>
              <a:t>Рынок растёт пятый год подряд</a:t>
            </a:r>
          </a:p>
        </p:txBody>
      </p:sp>
      <p:pic>
        <p:nvPicPr>
          <p:cNvPr id="6" name="Picture 5" descr="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300" y="1691640"/>
            <a:ext cx="8195094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6112" y="580644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25466"/>
                </a:solidFill>
                <a:latin typeface="Inter"/>
              </a:rPr>
              <a:t>Источник: оценка на основе открытых данных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291072"/>
            <a:ext cx="10911535" cy="10972"/>
          </a:xfrm>
          <a:prstGeom prst="rect">
            <a:avLst/>
          </a:prstGeom>
          <a:solidFill>
            <a:srgbClr val="CAC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25466"/>
                </a:solidFill>
                <a:latin typeface="Inter"/>
              </a:rPr>
              <a:t>Анализ рынка доставки еды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2895" y="63825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425466"/>
                </a:solidFill>
                <a:latin typeface="Inter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566928"/>
          </a:xfrm>
          <a:prstGeom prst="rect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7548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D4FF"/>
                </a:solidFill>
                <a:latin typeface="Inter"/>
              </a:rPr>
              <a:t>КОНКУРЕНЦИЯ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A2540"/>
                </a:solidFill>
                <a:latin typeface="Inter"/>
              </a:rPr>
              <a:t>Четыре игрока делят рынок</a:t>
            </a:r>
          </a:p>
        </p:txBody>
      </p:sp>
      <p:pic>
        <p:nvPicPr>
          <p:cNvPr id="6" name="Picture 5" descr="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241" y="1691640"/>
            <a:ext cx="4437212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6291072"/>
            <a:ext cx="10911535" cy="10972"/>
          </a:xfrm>
          <a:prstGeom prst="rect">
            <a:avLst/>
          </a:prstGeom>
          <a:solidFill>
            <a:srgbClr val="CAC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25466"/>
                </a:solidFill>
                <a:latin typeface="Inter"/>
              </a:rPr>
              <a:t>Анализ рынка доставки еды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3825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425466"/>
                </a:solidFill>
                <a:latin typeface="Inter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566928"/>
          </a:xfrm>
          <a:prstGeom prst="rect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7548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D4FF"/>
                </a:solidFill>
                <a:latin typeface="Inter"/>
              </a:rPr>
              <a:t>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A2540"/>
                </a:solidFill>
                <a:latin typeface="Inter"/>
              </a:rPr>
              <a:t>Что это значит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" y="1709928"/>
            <a:ext cx="77724" cy="77724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600200"/>
            <a:ext cx="1008857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0A2540"/>
                </a:solidFill>
                <a:latin typeface="Inter"/>
              </a:rPr>
              <a:t>Рынок растёт быстрее, чем доходы населения — ниша ещё не насыщена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" y="2368296"/>
            <a:ext cx="77724" cy="77724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258568"/>
            <a:ext cx="1008857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0A2540"/>
                </a:solidFill>
                <a:latin typeface="Inter"/>
              </a:rPr>
              <a:t>Лидеры конкурируют скоростью, а не ценой: 38 минут против 52 в 2023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" y="3026664"/>
            <a:ext cx="77724" cy="77724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2916936"/>
            <a:ext cx="1008857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0A2540"/>
                </a:solidFill>
                <a:latin typeface="Inter"/>
              </a:rPr>
              <a:t>Самокат вырос в 3 раза за счёт модели «тёмных» складов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3685032"/>
            <a:ext cx="77724" cy="77724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575304"/>
            <a:ext cx="1008857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0A2540"/>
                </a:solidFill>
                <a:latin typeface="Inter"/>
              </a:rPr>
              <a:t>Маржинальность падает: скидки съедают до 12% выручки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291072"/>
            <a:ext cx="10911535" cy="10972"/>
          </a:xfrm>
          <a:prstGeom prst="rect">
            <a:avLst/>
          </a:prstGeom>
          <a:solidFill>
            <a:srgbClr val="CAC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25466"/>
                </a:solidFill>
                <a:latin typeface="Inter"/>
              </a:rPr>
              <a:t>Анализ рынка доставки еды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62895" y="63825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425466"/>
                </a:solidFill>
                <a:latin typeface="Inter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566928"/>
          </a:xfrm>
          <a:prstGeom prst="rect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7548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D4FF"/>
                </a:solidFill>
                <a:latin typeface="Inter"/>
              </a:rPr>
              <a:t>СРАВНЕНИЕ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A2540"/>
                </a:solidFill>
                <a:latin typeface="Inter"/>
              </a:rPr>
              <a:t>Сильные и слабые стороны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554480"/>
            <a:ext cx="49528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635BFF"/>
                </a:solidFill>
                <a:latin typeface="Inter"/>
              </a:rPr>
              <a:t>Что работает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965960"/>
            <a:ext cx="4952847" cy="9144"/>
          </a:xfrm>
          <a:prstGeom prst="rect">
            <a:avLst/>
          </a:prstGeom>
          <a:solidFill>
            <a:srgbClr val="C6C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03120"/>
            <a:ext cx="4952847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0A2540"/>
                </a:solidFill>
                <a:latin typeface="Inter"/>
              </a:rPr>
              <a:t>Собственная логистика</a:t>
            </a:r>
          </a:p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0A2540"/>
                </a:solidFill>
                <a:latin typeface="Inter"/>
              </a:rPr>
              <a:t>Программа лояльности</a:t>
            </a:r>
          </a:p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0A2540"/>
                </a:solidFill>
                <a:latin typeface="Inter"/>
              </a:rPr>
              <a:t>Тёмные склады в спальных районах</a:t>
            </a:r>
          </a:p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0A2540"/>
                </a:solidFill>
                <a:latin typeface="Inter"/>
              </a:rPr>
              <a:t>Быстрая доставка за 30 минут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3007" y="1554480"/>
            <a:ext cx="49528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635BFF"/>
                </a:solidFill>
                <a:latin typeface="Inter"/>
              </a:rPr>
              <a:t>Что мешает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965960"/>
            <a:ext cx="4952847" cy="9144"/>
          </a:xfrm>
          <a:prstGeom prst="rect">
            <a:avLst/>
          </a:prstGeom>
          <a:solidFill>
            <a:srgbClr val="C6C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3007" y="2103120"/>
            <a:ext cx="4952847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0A2540"/>
                </a:solidFill>
                <a:latin typeface="Inter"/>
              </a:rPr>
              <a:t>Высокая стоимость курьеров</a:t>
            </a:r>
          </a:p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0A2540"/>
                </a:solidFill>
                <a:latin typeface="Inter"/>
              </a:rPr>
              <a:t>Зависимость от промо</a:t>
            </a:r>
          </a:p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0A2540"/>
                </a:solidFill>
                <a:latin typeface="Inter"/>
              </a:rPr>
              <a:t>Узкая география</a:t>
            </a:r>
          </a:p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0A2540"/>
                </a:solidFill>
                <a:latin typeface="Inter"/>
              </a:rPr>
              <a:t>Слабая удержание клиентов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291072"/>
            <a:ext cx="10911535" cy="10972"/>
          </a:xfrm>
          <a:prstGeom prst="rect">
            <a:avLst/>
          </a:prstGeom>
          <a:solidFill>
            <a:srgbClr val="CAC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25466"/>
                </a:solidFill>
                <a:latin typeface="Inter"/>
              </a:rPr>
              <a:t>Анализ рынка доставки еды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62895" y="63825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425466"/>
                </a:solidFill>
                <a:latin typeface="Inter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566928"/>
          </a:xfrm>
          <a:prstGeom prst="rect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7548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D4FF"/>
                </a:solidFill>
                <a:latin typeface="Inter"/>
              </a:rPr>
              <a:t>ДЕТАЛИ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A2540"/>
                </a:solidFill>
                <a:latin typeface="Inter"/>
              </a:rPr>
              <a:t>Игроки и показатели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45920"/>
          <a:ext cx="1054577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6443"/>
                <a:gridCol w="2636443"/>
                <a:gridCol w="2636443"/>
                <a:gridCol w="2636446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</a:rPr>
                        <a:t>Игрок</a:t>
                      </a:r>
                    </a:p>
                  </a:txBody>
                  <a:tcPr>
                    <a:solidFill>
                      <a:srgbClr val="635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</a:rPr>
                        <a:t>Доля</a:t>
                      </a:r>
                    </a:p>
                  </a:txBody>
                  <a:tcPr>
                    <a:solidFill>
                      <a:srgbClr val="635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</a:rPr>
                        <a:t>Заказы, млн</a:t>
                      </a:r>
                    </a:p>
                  </a:txBody>
                  <a:tcPr>
                    <a:solidFill>
                      <a:srgbClr val="635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</a:rPr>
                        <a:t>Рост</a:t>
                      </a:r>
                    </a:p>
                  </a:txBody>
                  <a:tcPr>
                    <a:solidFill>
                      <a:srgbClr val="635B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2540"/>
                          </a:solidFill>
                          <a:latin typeface="Inter"/>
                        </a:rPr>
                        <a:t>Купер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2540"/>
                          </a:solidFill>
                          <a:latin typeface="Inter"/>
                        </a:rPr>
                        <a:t>34%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2540"/>
                          </a:solidFill>
                          <a:latin typeface="Inter"/>
                        </a:rPr>
                        <a:t>0,82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2540"/>
                          </a:solidFill>
                          <a:latin typeface="Inter"/>
                        </a:rPr>
                        <a:t>+18%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2540"/>
                          </a:solidFill>
                          <a:latin typeface="Inter"/>
                        </a:rPr>
                        <a:t>Яндекс Еда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2540"/>
                          </a:solidFill>
                          <a:latin typeface="Inter"/>
                        </a:rPr>
                        <a:t>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2540"/>
                          </a:solidFill>
                          <a:latin typeface="Inter"/>
                        </a:rPr>
                        <a:t>0,67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2540"/>
                          </a:solidFill>
                          <a:latin typeface="Inter"/>
                        </a:rPr>
                        <a:t>+14%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2540"/>
                          </a:solidFill>
                          <a:latin typeface="Inter"/>
                        </a:rPr>
                        <a:t>Самокат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2540"/>
                          </a:solidFill>
                          <a:latin typeface="Inter"/>
                        </a:rPr>
                        <a:t>17%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2540"/>
                          </a:solidFill>
                          <a:latin typeface="Inter"/>
                        </a:rPr>
                        <a:t>0,41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2540"/>
                          </a:solidFill>
                          <a:latin typeface="Inter"/>
                        </a:rPr>
                        <a:t>+31%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2540"/>
                          </a:solidFill>
                          <a:latin typeface="Inter"/>
                        </a:rPr>
                        <a:t>Другие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2540"/>
                          </a:solidFill>
                          <a:latin typeface="Inter"/>
                        </a:rPr>
                        <a:t>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2540"/>
                          </a:solidFill>
                          <a:latin typeface="Inter"/>
                        </a:rPr>
                        <a:t>0,50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2540"/>
                          </a:solidFill>
                          <a:latin typeface="Inter"/>
                        </a:rPr>
                        <a:t>+9%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6291072"/>
            <a:ext cx="10911535" cy="10972"/>
          </a:xfrm>
          <a:prstGeom prst="rect">
            <a:avLst/>
          </a:prstGeom>
          <a:solidFill>
            <a:srgbClr val="CAC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25466"/>
                </a:solidFill>
                <a:latin typeface="Inter"/>
              </a:rPr>
              <a:t>Анализ рынка доставки еды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3825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425466"/>
                </a:solidFill>
                <a:latin typeface="Inter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0" y="2148840"/>
            <a:ext cx="118872" cy="21031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194560"/>
            <a:ext cx="835121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0" i="1">
                <a:solidFill>
                  <a:srgbClr val="0A2540"/>
                </a:solidFill>
                <a:latin typeface="Inter"/>
              </a:rPr>
              <a:t>«Скорость доставки стала главным товаром, а еда — приложением к ней»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4297680"/>
            <a:ext cx="8351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425466"/>
                </a:solidFill>
                <a:latin typeface="Inter"/>
              </a:rPr>
              <a:t>— Аналитик рынка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291072"/>
            <a:ext cx="10911535" cy="10972"/>
          </a:xfrm>
          <a:prstGeom prst="rect">
            <a:avLst/>
          </a:prstGeom>
          <a:solidFill>
            <a:srgbClr val="CAC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25466"/>
                </a:solidFill>
                <a:latin typeface="Inter"/>
              </a:rPr>
              <a:t>Анализ рынка доставки еды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3825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425466"/>
                </a:solidFill>
                <a:latin typeface="Inter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377440"/>
            <a:ext cx="101800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Inter"/>
              </a:rPr>
              <a:t>Спасибо!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566160"/>
            <a:ext cx="101800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D0CEFF"/>
                </a:solidFill>
                <a:latin typeface="Inter"/>
              </a:rPr>
              <a:t>ChatStudio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